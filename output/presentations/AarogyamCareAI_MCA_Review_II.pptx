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076621d184481" /><Relationship Type="http://schemas.openxmlformats.org/officeDocument/2006/relationships/extended-properties" Target="/docProps/app.xml" Id="R82f558a3440c4f6c" /><Relationship Type="http://schemas.openxmlformats.org/officeDocument/2006/relationships/officeDocument" Target="/ppt/presentation.xml" Id="Rcc028720bbc7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2c89967234450"/>
  </p:sldMasterIdLst>
  <p:notesMasterIdLst>
    <p:notesMasterId xmlns:r="http://schemas.openxmlformats.org/officeDocument/2006/relationships" r:id="Re2efa7896b6147a8"/>
  </p:notesMasterIdLst>
  <p:sldIdLst>
    <p:sldId xmlns:r="http://schemas.openxmlformats.org/officeDocument/2006/relationships" id="256" r:id="R3db1b93513f44ed2"/>
    <p:sldId xmlns:r="http://schemas.openxmlformats.org/officeDocument/2006/relationships" id="257" r:id="Re32da0bf72144d22"/>
    <p:sldId xmlns:r="http://schemas.openxmlformats.org/officeDocument/2006/relationships" id="258" r:id="R52ea33dbde134cab"/>
    <p:sldId xmlns:r="http://schemas.openxmlformats.org/officeDocument/2006/relationships" id="259" r:id="R91dfa8fe20e94556"/>
    <p:sldId xmlns:r="http://schemas.openxmlformats.org/officeDocument/2006/relationships" id="260" r:id="R4e2dd8cbc347436f"/>
    <p:sldId xmlns:r="http://schemas.openxmlformats.org/officeDocument/2006/relationships" id="261" r:id="R6c020b6223f24ab3"/>
    <p:sldId xmlns:r="http://schemas.openxmlformats.org/officeDocument/2006/relationships" id="262" r:id="Rd90a3de3d2834a6b"/>
    <p:sldId xmlns:r="http://schemas.openxmlformats.org/officeDocument/2006/relationships" id="263" r:id="R0be1d6cd64004245"/>
    <p:sldId xmlns:r="http://schemas.openxmlformats.org/officeDocument/2006/relationships" id="264" r:id="R1b87a66f9dd24167"/>
    <p:sldId xmlns:r="http://schemas.openxmlformats.org/officeDocument/2006/relationships" id="265" r:id="R85d8de52da2743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a14eeb563342ca" /><Relationship Type="http://schemas.openxmlformats.org/officeDocument/2006/relationships/slideMaster" Target="/ppt/slideMasters/slideMaster1.xml" Id="R1bd2c89967234450" /><Relationship Type="http://schemas.openxmlformats.org/officeDocument/2006/relationships/notesMaster" Target="/ppt/notesMasters/notesMaster1.xml" Id="Re2efa7896b6147a8" /><Relationship Type="http://schemas.openxmlformats.org/officeDocument/2006/relationships/presProps" Target="/ppt/presProps.xml" Id="Reefda9a0d5634ecc" /><Relationship Type="http://schemas.openxmlformats.org/officeDocument/2006/relationships/tableStyles" Target="/ppt/tableStyles.xml" Id="Rded320207b4a4487" /><Relationship Type="http://schemas.openxmlformats.org/officeDocument/2006/relationships/slide" Target="/ppt/slides/slide1.xml" Id="R3db1b93513f44ed2" /><Relationship Type="http://schemas.openxmlformats.org/officeDocument/2006/relationships/slide" Target="/ppt/slides/slide2.xml" Id="Re32da0bf72144d22" /><Relationship Type="http://schemas.openxmlformats.org/officeDocument/2006/relationships/slide" Target="/ppt/slides/slide3.xml" Id="R52ea33dbde134cab" /><Relationship Type="http://schemas.openxmlformats.org/officeDocument/2006/relationships/slide" Target="/ppt/slides/slide4.xml" Id="R91dfa8fe20e94556" /><Relationship Type="http://schemas.openxmlformats.org/officeDocument/2006/relationships/slide" Target="/ppt/slides/slide5.xml" Id="R4e2dd8cbc347436f" /><Relationship Type="http://schemas.openxmlformats.org/officeDocument/2006/relationships/slide" Target="/ppt/slides/slide6.xml" Id="R6c020b6223f24ab3" /><Relationship Type="http://schemas.openxmlformats.org/officeDocument/2006/relationships/slide" Target="/ppt/slides/slide7.xml" Id="Rd90a3de3d2834a6b" /><Relationship Type="http://schemas.openxmlformats.org/officeDocument/2006/relationships/slide" Target="/ppt/slides/slide8.xml" Id="R0be1d6cd64004245" /><Relationship Type="http://schemas.openxmlformats.org/officeDocument/2006/relationships/slide" Target="/ppt/slides/slide9.xml" Id="R1b87a66f9dd24167" /><Relationship Type="http://schemas.openxmlformats.org/officeDocument/2006/relationships/slide" Target="/ppt/slides/slide10.xml" Id="R85d8de52da27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0276fd81b346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d10c25e0a4395" /><Relationship Type="http://schemas.openxmlformats.org/officeDocument/2006/relationships/notesMaster" Target="/ppt/notesMasters/notesMaster1.xml" Id="R12754677d3254c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ae978b69ea4645" /><Relationship Type="http://schemas.openxmlformats.org/officeDocument/2006/relationships/notesMaster" Target="/ppt/notesMasters/notesMaster1.xml" Id="Re31a6b15702d4a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165da40626493a" /><Relationship Type="http://schemas.openxmlformats.org/officeDocument/2006/relationships/notesMaster" Target="/ppt/notesMasters/notesMaster1.xml" Id="R3e1fab9f751c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1bca85528425d" /><Relationship Type="http://schemas.openxmlformats.org/officeDocument/2006/relationships/notesMaster" Target="/ppt/notesMasters/notesMaster1.xml" Id="R97900cc9fbd542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e56a0afe04ba5" /><Relationship Type="http://schemas.openxmlformats.org/officeDocument/2006/relationships/notesMaster" Target="/ppt/notesMasters/notesMaster1.xml" Id="R18b60a44f2fe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f7377055d45f7" /><Relationship Type="http://schemas.openxmlformats.org/officeDocument/2006/relationships/notesMaster" Target="/ppt/notesMasters/notesMaster1.xml" Id="R453866b48f9f44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1938d2114245ed" /><Relationship Type="http://schemas.openxmlformats.org/officeDocument/2006/relationships/notesMaster" Target="/ppt/notesMasters/notesMaster1.xml" Id="R2896644a5d8242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699a87ac3b4a66" /><Relationship Type="http://schemas.openxmlformats.org/officeDocument/2006/relationships/notesMaster" Target="/ppt/notesMasters/notesMaster1.xml" Id="R6ee21cc364924a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bed2aa5cc4fe9" /><Relationship Type="http://schemas.openxmlformats.org/officeDocument/2006/relationships/notesMaster" Target="/ppt/notesMasters/notesMaster1.xml" Id="R44c1e5cc78624d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9a8b0ed5624005" /><Relationship Type="http://schemas.openxmlformats.org/officeDocument/2006/relationships/notesMaster" Target="/ppt/notesMasters/notesMaster1.xml" Id="Rb284dcbb8061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0b57545d047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ddce24c3c41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63596077a45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8b3bf11974a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2157a79ce4a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7e10c97c540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8CD50-41ED-45A4-81B0-BD8F6562E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18CE09-5EA5-452E-B99B-23D54D8191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85B3CC-FE4B-4838-AE2F-5BFEB0A7F3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AA362-CF8C-4B4D-806F-C7AF95F22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4C1B88-4B40-4DC7-B558-B6C5E440C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8D8E66-1972-4AF3-B7EC-4BDA3AF8E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C4B3C7-3F81-4856-BE31-893643EA9C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8DFB9F-32A8-4215-A13E-4A793C18A0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C40E6D-75A1-4C3E-927E-8F344E296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EA8A7A-78A7-417C-9304-3AA5AAD4B5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8e877f28af496e" /><Relationship Type="http://schemas.openxmlformats.org/officeDocument/2006/relationships/slideLayout" Target="/ppt/slideLayouts/slideLayout1.xml" Id="R398aa8ba419f4cec" /><Relationship Type="http://schemas.openxmlformats.org/officeDocument/2006/relationships/slideLayout" Target="/ppt/slideLayouts/slideLayout2.xml" Id="Rab960832cc7748b0" /><Relationship Type="http://schemas.openxmlformats.org/officeDocument/2006/relationships/slideLayout" Target="/ppt/slideLayouts/slideLayout3.xml" Id="R57ece39cb78b456f" /><Relationship Type="http://schemas.openxmlformats.org/officeDocument/2006/relationships/slideLayout" Target="/ppt/slideLayouts/slideLayout4.xml" Id="Rb2dd10acea7a45cd" /><Relationship Type="http://schemas.openxmlformats.org/officeDocument/2006/relationships/slideLayout" Target="/ppt/slideLayouts/slideLayout5.xml" Id="Rf2191fca2fe6408d" /><Relationship Type="http://schemas.openxmlformats.org/officeDocument/2006/relationships/slideLayout" Target="/ppt/slideLayouts/slideLayout6.xml" Id="R48c071a456c743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aa8ba419f4cec"/>
    <p:sldLayoutId xmlns:r="http://schemas.openxmlformats.org/officeDocument/2006/relationships" id="2147483650" r:id="Rab960832cc7748b0"/>
    <p:sldLayoutId xmlns:r="http://schemas.openxmlformats.org/officeDocument/2006/relationships" id="2147483651" r:id="R57ece39cb78b456f"/>
    <p:sldLayoutId xmlns:r="http://schemas.openxmlformats.org/officeDocument/2006/relationships" id="2147483652" r:id="Rb2dd10acea7a45cd"/>
    <p:sldLayoutId xmlns:r="http://schemas.openxmlformats.org/officeDocument/2006/relationships" id="2147483653" r:id="Rf2191fca2fe6408d"/>
    <p:sldLayoutId xmlns:r="http://schemas.openxmlformats.org/officeDocument/2006/relationships" id="2147483654" r:id="R48c071a456c743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50d493b6b44d5" /><Relationship Type="http://schemas.openxmlformats.org/officeDocument/2006/relationships/notesSlide" Target="/ppt/notesSlides/notesSlide1.xml" Id="Rb9b04ac6fb5c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a7fefb7514625" /><Relationship Type="http://schemas.openxmlformats.org/officeDocument/2006/relationships/notesSlide" Target="/ppt/notesSlides/notesSlide2.xml" Id="Rb0f09e7726b2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2d7de935e4430" /><Relationship Type="http://schemas.openxmlformats.org/officeDocument/2006/relationships/notesSlide" Target="/ppt/notesSlides/notesSlide3.xml" Id="Rf50a9e8c1fce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d624eee074a7b" /><Relationship Type="http://schemas.openxmlformats.org/officeDocument/2006/relationships/notesSlide" Target="/ppt/notesSlides/notesSlide4.xml" Id="Rd8323522565d4c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4ec1105074de5" /><Relationship Type="http://schemas.openxmlformats.org/officeDocument/2006/relationships/notesSlide" Target="/ppt/notesSlides/notesSlide5.xml" Id="R674f5988f11b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bc08fe8f04958" /><Relationship Type="http://schemas.openxmlformats.org/officeDocument/2006/relationships/notesSlide" Target="/ppt/notesSlides/notesSlide6.xml" Id="Ra15d5e775e0240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1b8878fbc4720" /><Relationship Type="http://schemas.openxmlformats.org/officeDocument/2006/relationships/notesSlide" Target="/ppt/notesSlides/notesSlide7.xml" Id="Rebd20b15c8b8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2dd5827f64d52" /><Relationship Type="http://schemas.openxmlformats.org/officeDocument/2006/relationships/notesSlide" Target="/ppt/notesSlides/notesSlide8.xml" Id="R28876a92371a4b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69f3eba384186" /><Relationship Type="http://schemas.openxmlformats.org/officeDocument/2006/relationships/notesSlide" Target="/ppt/notesSlides/notesSlide9.xml" Id="Rbbe1ae54c2c24e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c9a3df9674571" /><Relationship Type="http://schemas.openxmlformats.org/officeDocument/2006/relationships/notesSlide" Target="/ppt/notesSlides/notesSlide10.xml" Id="R436bbea76ea140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EB858-4333-4933-8BC9-C0C17332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E14F2-669F-40CA-8654-E7B8DA4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0677E-2C47-4E8C-8B77-6472990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6667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1D9B4-6684-451E-A545-07B3C84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66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MCA MINI PROJECT – REVIEW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35585-B9E7-44D6-81EF-4716495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621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ED345-9E25-46C0-8D59-9876CF1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AI-powered healthcare-information companion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93E57-AAAE-4DD4-A8A3-9B938C15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defPPr>
            <a:lvl1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1pPr>
            <a:lvl2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2pPr>
            <a:lvl3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3pPr>
            <a:lvl4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4pPr>
            <a:lvl5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5pPr>
            <a:lvl6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6pPr>
            <a:lvl7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7pPr>
            <a:lvl8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8pPr>
            <a:lvl9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Health information, predictions and appointments</a:t>
            </a:r>
          </a:p>
          <a:p xmlns:a="http://schemas.openxmlformats.org/drawingml/2006/main">
            <a:pPr>
              <a:defRPr sz="1425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in one authenticated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A7CE3-C6CC-41C0-BCC3-E7AB0780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[Student Name]  |  [Roll Number]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11366-5998-4FB4-819B-DFF0CE41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Guide: [Guide Name]</a:t>
            </a:r>
          </a:p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[College Name]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E63F2-B203-4FBA-95E1-2BCFB1BB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2667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51189-AFCC-400B-BC5B-C2E8F1D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58249-B398-49E3-9E01-01E849C5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43125"/>
            <a:ext cx="104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defPPr>
            <a:lvl1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1pPr>
            <a:lvl2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2pPr>
            <a:lvl3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3pPr>
            <a:lvl4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4pPr>
            <a:lvl5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5pPr>
            <a:lvl6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6pPr>
            <a:lvl7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7pPr>
            <a:lvl8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8pPr>
            <a:lvl9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6B89F-AD72-4D42-A30A-F0CED12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HEALTHCARE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84645-B9D1-4C97-AFB8-B6A6A33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17133-5AD3-4D0B-821D-42B70161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D368D-9BF1-4A9D-9807-E37074E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287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400F8-BE7C-41A3-B0B5-13E71CC7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24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BB8F2-F01F-4C3F-BE81-E6C833A7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667125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0B566-BBEC-4724-9AAD-A5A337A5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623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A8884-F505-4198-B978-A49B2A9B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EF36C-68A7-4BEA-B433-3FD54535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2EA70-30D6-454A-9A74-55773884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28800"/>
            <a:ext cx="142875" cy="3619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93C5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539C6-FACB-4C67-A8A1-57CF8EF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47850"/>
            <a:ext cx="38100" cy="3619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4CDD9-0218-4F57-B769-0F0B43BC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48050"/>
            <a:ext cx="619125" cy="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5EEA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FF463-F1E9-4247-874C-4836011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52800"/>
            <a:ext cx="381000" cy="552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F66AF-3328-47D2-84BA-9F91584E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865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defPPr>
            <a:lvl1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1pPr>
            <a:lvl2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2pPr>
            <a:lvl3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3pPr>
            <a:lvl4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4pPr>
            <a:lvl5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5pPr>
            <a:lvl6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6pPr>
            <a:lvl7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7pPr>
            <a:lvl8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8pPr>
            <a:lvl9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Informational support only. Not a replacement for medical diagnosis or emergency care.</a:t>
            </a:r>
          </a:p>
        </p:txBody>
      </p:sp>
    </p:spTree>
    <p:extLst>
      <p:ext uri="{BB962C8B-B14F-4D97-AF65-F5344CB8AC3E}">
        <p14:creationId xmlns:p14="http://schemas.microsoft.com/office/powerpoint/2010/main" val="110057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E06FE-6161-4FFD-ABDA-4CAB587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1CD6-8F6C-44FD-99D4-B3B4BB5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C69B6-3505-48CF-A774-6868478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Problem, Need and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EC1EB-97B7-4997-B0F5-6679195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A9845-CDAD-4AED-981C-B538379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F435A-E1BE-46A4-AD9F-6F0EE6CC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Existing challenges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F9B4E-F220-4B0D-BFB3-CCCE154B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AarogyamCareAI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4CF54-A4C4-4041-9DD2-271332F2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FF72F-70D3-4B87-B52F-95D8A19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8FD27-B64F-4E97-989D-27B037C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1CC50-0D44-4492-8E6C-342C8BC2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Fragmented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738A6-4AF3-46F6-A814-50C7B8B1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Reports, appointments and guidance sit in separate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365EE-80D4-4E73-A51D-D647E74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6D132-F3C9-4134-8113-ABA1EC1B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CE031-534B-4F98-A7B1-43F877C5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3B71C-D180-448B-8621-919E2609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Difficult terminology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8AE67-6997-43B3-81F5-73D13ED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Medical-report language may be hard for users to understand.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D5650-6CD7-4375-B3A8-67AA6C62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E2604-6444-4AA5-852D-C409070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C6145-633B-41F3-AC5D-A5FDF96E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72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36A71-922B-40C3-B419-14CDAEA9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Disconnected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635E3-571C-41E8-85C5-3BA3DEBD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Chat, prediction and appointment records are not unified.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B264C-0DB4-4B8C-B5F7-28E756CE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DD579-98D9-43E2-9FB8-58137BA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2A729-7954-4AE8-9C27-6A05DD1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193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E7FFE-1DD4-499D-BC7F-75B2D22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98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Unified health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A1916-B4B5-464D-ADBE-792025CF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One authenticated application for personal health workflows.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B5DE8-4DF0-49F4-84D4-F01F12BD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BBFEE-D63B-4D7B-81C8-722CCC8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E63CE-1E92-4F35-A031-7D5F347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43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DFD59F-0E57-41D3-A51D-EFACEBA2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AI-assisted information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08A19-8F22-4C9A-909A-0FB5179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Gemini-powered chat and structured report analysis.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FD6CED-199E-4A3F-AFF7-13CE299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857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6BCF0D-AF4B-42A0-8538-450EE1F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577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D9A4A-5380-4037-9C27-9FAB6E56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672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48CC65-56DE-42DF-83DB-AE1100C6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Personal records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4FCBAF-D734-4201-8D7D-FC7B3717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Predictions, reports and appointments are linked to the user.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06A5DA-7CA0-4C55-83D8-34802B1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76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36C708-A3C6-4777-A1B5-329EE86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33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Objective: provide educational health information, model-supported predictions, report summaries and appointment support in one secure workflow.</a:t>
            </a:r>
          </a:p>
        </p:txBody>
      </p:sp>
    </p:spTree>
    <p:extLst>
      <p:ext uri="{BB962C8B-B14F-4D97-AF65-F5344CB8AC3E}">
        <p14:creationId xmlns:p14="http://schemas.microsoft.com/office/powerpoint/2010/main" val="16239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B2CFBE-8318-48D3-B1A7-004EAE0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732CD-FB78-4A16-B341-C081CD5B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D1307-8855-47FA-B2DF-C384229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Architecture and 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9095D-E39E-45B7-9CA4-7940F950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9F5BA-71E7-437A-8C6F-15715B3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1975B-8648-406A-BBA9-9C373344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F6819-9682-4494-B9E0-9620D26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7F7AC-FEEA-4775-809D-8ABF816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82C68-A9CC-4403-945E-4A0D5FC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React 19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TypeScript · Vite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Tailwind 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89C09-21E4-4507-993B-FF1534F7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764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E2A8F-0F2A-475B-A94D-E2A8469C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65257-D8EC-4E75-A577-DB5C4316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A8B7B-CA9E-43B6-BF51-50E251B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335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 + Express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584D2-FF0B-4047-874D-907B7CC7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Authentication · API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 integration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Appointments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A709A-0D12-4B03-8287-962F14CD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764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5D9D2-FE25-4E37-A108-77FC831E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2266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EDCF8-45DB-4A3F-849A-9FE648A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2266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9653F-7523-4F2D-BF5C-886106C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335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5535F-B00A-4842-ABF9-62208DDA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Users · sessions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profiles · chat · reports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predictions · appointments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F6FBF-29B4-4187-AA56-91142CD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57375"/>
            <a:ext cx="23431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CEEC1-98EB-4DE4-9E8A-77396F01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383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Python FastAPI ML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C17C2-EF97-48B5-BD93-F5F7EB4A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479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Disease prediction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Cardiovascular risk model</a:t>
            </a:r>
          </a:p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scikit-learn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9634-17F6-4972-A481-FF07257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E07B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7018A-6E7A-453A-9776-43C784FA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External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80E49-1DB5-411C-9D66-71C5B6FF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3333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26B63-EDB0-4CD0-9A5B-CC233FF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Google Gemini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820D3-6AC8-4A7B-B849-8725DC9C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Informational chatbot and structured report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18CA0-754E-4D2B-9F27-19DD1F5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52925"/>
            <a:ext cx="3333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B4C43-E6EE-405A-8890-26C9AADD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Twilio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8C966-9A4E-4E39-8AEC-A73E3887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0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Optional consent-based SMS appointment reminders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031A3-547E-4661-BF96-E077FCB3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52925"/>
            <a:ext cx="34004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462A6-686B-4E30-ADAE-0D42EAD3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Security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E636C1-A4BC-44E2-8525-5F78CE67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0125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 and database credentials remain server-side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163F1F-00BF-48E2-AC20-1BE6AAF8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047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E2111-1F59-4150-9140-C15F2C6E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Frontend: React + TypeScript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C3A956-B951-4E0A-AF76-04985EC8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0250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FFF60-C17E-4213-BD5F-B5D262C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29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Backend: Node + Express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4D6A4F-1CCD-4A1D-8F0F-F068795C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10250"/>
            <a:ext cx="1866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0F459B-8A0E-4F5F-8ACE-2418365F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293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ML: Python + FastAPI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16925C-6786-4D66-A352-6C40211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10250"/>
            <a:ext cx="1524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14A5D-5992-423B-A78E-80C6A00D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Database: MySQL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6C5BA5-2713-457B-96F9-F1D135B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10250"/>
            <a:ext cx="1190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F13F98-05E9-4DEF-8D78-5C98B682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293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AI: Gemini</a:t>
            </a:r>
          </a:p>
        </p:txBody>
      </p:sp>
    </p:spTree>
    <p:extLst>
      <p:ext uri="{BB962C8B-B14F-4D97-AF65-F5344CB8AC3E}">
        <p14:creationId xmlns:p14="http://schemas.microsoft.com/office/powerpoint/2010/main" val="450621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BD744A-C5A0-4746-86B7-E508B138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C9822-2630-44E7-94E5-9AE4F66C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37569-00C4-45B0-86CD-34FAB489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Implementation: Main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EE5EB-E9D5-4416-8182-3F51F71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6F7B2-FD9A-40E2-93A8-AB907BF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DCD4A-6E82-42FF-8730-3952F39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1C915-7893-4CF2-A56B-DCABBE21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422C9-DD78-4E11-BBC5-71559DA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FC4B9-4715-4EF7-BAA6-CEFF53C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Authentication and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196D3-3671-4F91-868F-D8FA095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Registration, login, password hashing, sessions and user/admin access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62EE-76AD-466D-9087-0917610F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E4BD9-0130-4C9F-B5C1-A0B9745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78716-92DD-44CE-B076-F094F68B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92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7ABCE-14A3-4C29-AC39-16B46F3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Health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65048-AF16-408F-9F15-7E188A20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Personal health details, allergies, conditions and emergency contact fields.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FB8DA-E9E0-430A-B672-63D76C1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DE32D-F6DF-42A0-86F6-ACEFB5A5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5935A-D26B-4492-B09C-9582CC98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F9E85-A4F9-49B7-ACB2-6A811E16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AI Health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5E67A-2F32-4D77-9C8B-A4C95BAE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Gemini-powered educational chat with stored conversation history.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EDA02-6F7C-4CA5-9651-89E42198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BE727-28E4-4836-A037-3F800B8E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A86B1-28C1-41C7-9021-8AF7B72E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89FFB-1FD0-4B0D-AE51-AEDEADF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Disease and Risk Prediction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C6246-1FA5-4F39-A975-B3CA5E7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Symptom-based possible-condition prediction and cardiovascular risk estimation.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2D0BA-D7A7-4316-B016-E557B42C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9B848-1D63-4C2C-8B34-59E88E8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58646-3659-4A31-995A-032BA61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2C19A5-644F-4322-A760-9209F93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Medical Report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E72F6-DA41-49B1-B63C-7A6DCA6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PDF, PNG and JPEG input with structured informational summary.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DF073-09E6-4BB5-A451-8B84C7EA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5124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D4796-53E0-4227-A9A2-707C39B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20A88-FED4-4156-AB28-147B76AB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624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19BD5F-920E-4D0C-A6F4-77461115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Appointments and Administration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429BCE-84C6-4BE8-B36E-E71B441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Scheduling, consent-based reminders and protected admin monitoring.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AEAB3-1B98-4E28-A9C3-B66805EC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All health-related results remain educational outputs and require professional medical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795654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B51E68-13C5-468B-AFF4-E3A491A7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EEFF3-BA29-4865-BEED-D107B8AA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CFB44-DDAA-4816-8EFA-150ED9C8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Database Design: MySQL Persistence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7D39-AAB8-4D75-A1E8-F4D92F2B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3B4E1-D26D-4AD6-A55A-5D9AF83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499C2-759D-4019-A427-EC07D652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4287D-3185-401A-AF90-F948DC41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430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DCBD7-945A-4B72-8BE0-8BFE88C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1700"/>
            <a:ext cx="441007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03DE3-02F7-407F-B953-4DA2858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CAA45-64C9-45DA-B1A9-760C1CA2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auth_sessions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B9A22-88DB-4A1C-9F7C-9FC63BF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225742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9B280-1A2C-41EC-855B-3A67EF3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6E9B6-64C3-4190-B517-430C35E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health_profiles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B44D7-D87F-4D26-986F-DC7F752D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71700"/>
            <a:ext cx="10477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07B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0EF57-F5F8-4706-A2FA-15D56996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B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28734-8378-440A-A012-2E617B52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chat_conversations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23752-8E09-4887-ADA3-EE45ADE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254317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9EB9B-87B5-4D85-9960-532C67D7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54D32-503A-4AF6-8BDF-269B745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disease_predictions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1BBC0-449D-4CE4-9153-06E272AB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4695825" cy="6477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F203B-EF1F-442F-87E2-6C9D846E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1940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13281-2247-4605-A82E-AB1D1CA2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43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risk_assessments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3DCDE-40FF-40DE-B469-10FB09C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1952625" cy="1962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07B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84B47-9237-481D-B878-1881CBF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33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B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43CBD-EE22-47EC-9DC9-73704ABA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7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medical_reports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0D30B-2927-4A42-8874-409CE54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714375" cy="1962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8117A0-E7DE-426D-987C-1A3D773E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4FE64-04F5-4E2D-B81C-4C3995F2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57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appointments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6E6AD-1D35-4321-83E0-7E6AB201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3381375" cy="1962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AACDAD-B64E-43CA-88F8-D24AED4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33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649D7-DE95-4500-B48B-720F171E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57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admin_audit_logs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F0917F-5C91-492E-9446-B02340D5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524125" cy="3105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07B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104ECC-1139-4F28-95D3-5AB4FFE0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76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7B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8953C-03C6-4DD8-B38C-367E66CD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00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report_analyses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F5DDDD-28F8-48D7-AF2C-F82A15F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123825" cy="3105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75930B-9706-45C6-80C0-3C64A11B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6E6DB-2B6F-4F66-AE18-3C98F80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00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chat_messages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8A492F-CCD6-48CC-9AA4-0037F6D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71700"/>
            <a:ext cx="2771775" cy="31051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98DFF4-1DB9-4311-9046-CEB7080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76850"/>
            <a:ext cx="1676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7F1068-9A39-4A51-9C43-789FA6DE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00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appointment_sms_logs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D819A5-8954-4F71-8848-4582A9B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050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 : 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6C1E9E-CCC3-450F-B1DB-22AF38C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0"/>
            <a:ext cx="10763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9091E-822D-4D22-9D9C-87A115A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11 related tables in MySQL: user-owned records, foreign-key links, session handling and audit support.</a:t>
            </a:r>
          </a:p>
        </p:txBody>
      </p:sp>
    </p:spTree>
    <p:extLst>
      <p:ext uri="{BB962C8B-B14F-4D97-AF65-F5344CB8AC3E}">
        <p14:creationId xmlns:p14="http://schemas.microsoft.com/office/powerpoint/2010/main" val="1316047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54D1DB-521A-4C0C-9E1B-B4A95FF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094D9-45B7-457E-96D3-E9B0E49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1AF5C-2A50-43A2-B0DB-9080CB0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36BFC-511C-4550-8314-2B3632C1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7F51B-50BD-4106-B643-067FE691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160B0-24DA-4D95-8757-A64D667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AI and ML health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C2C28-B019-4614-B7D9-8BFD7E6F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33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B89BE-DD40-4763-8954-1416BF6E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831D-5F88-4655-BFFA-0C4638F5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2D7CE-6F8F-4FC3-AFA1-72685EF0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95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060B6-41A1-4935-AE06-481EC24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050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Enter health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0F979-C2B0-4300-8166-1127069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C3AE4-7B15-49AC-A37F-E8E8039D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38350"/>
            <a:ext cx="104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53DC7-9F2F-4BC5-9A74-CEEEF305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05025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D68B5-75FA-4B8A-B7E2-D8DB1DF9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9DEA3-C2BA-4E73-822C-C6604DC1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504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56F50-0D21-4E52-BFE6-6E78BC48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050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Gemini or ML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CFA05-A2BF-446D-A60C-7867EA0B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E61B0-B330-409B-80C7-07A708D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16A05-B2B1-418B-AE0E-3ACA84FA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050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Informational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F8B28-F131-493D-8351-5C05D20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BAAF2-B14F-496B-AB01-23373D0E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1123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FE7DB-FC62-4A09-A3F4-6AC862AA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050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A9898-C9C4-4B6F-ABF2-49B7F75C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Appointment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C65A9-8956-42EC-B50A-72730EFF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933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DC644-5D1A-45E0-8B1A-B5775A0F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53C66-7788-4D85-ADA4-F721D7C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4364F-1C31-467B-84F3-D49BEFC2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1381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87705-BB08-4B7E-A43D-9523CC67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0025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Appointment details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C6B4A-048A-4FB4-B553-E2DC399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05F78-4306-4B56-8B4B-A0F60BDE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1285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916EB-67DD-49D8-8A97-6221A3B1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10025"/>
            <a:ext cx="1133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for SMS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466480-0C7E-4D2A-A928-CBA72105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D24DC8-770D-47B9-BB8B-4C1876E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43350"/>
            <a:ext cx="1333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49303E-0EA8-4391-9ECC-12501270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1002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 appointment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53F882-9DD5-4813-8DE4-0CF82C68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16820-BE84-4530-997C-EFD2406A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1219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602F27-3882-4788-A6F8-9F1EF8E6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100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Scheduler checks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9D1E7-A657-467C-A48C-700EA19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B4D8DC-1157-4D11-9524-375AB0D0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1666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ABF5A5-1ED6-4C21-B4A7-04C0A8D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00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Twilio SMS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3B99F-F7A7-4DCA-A22F-9B61DA98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7537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5D1580-C9F1-4DAB-9B27-877B21E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36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Outputs provide educational information. The application does not diagnose conditions, prescribe treatment or replace emergency care.</a:t>
            </a:r>
          </a:p>
        </p:txBody>
      </p:sp>
    </p:spTree>
    <p:extLst>
      <p:ext uri="{BB962C8B-B14F-4D97-AF65-F5344CB8AC3E}">
        <p14:creationId xmlns:p14="http://schemas.microsoft.com/office/powerpoint/2010/main" val="836192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B1C6D-F4EF-4671-BFE3-C812EB0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B8261-07B0-4555-BC84-EBBEF9F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0048-34D0-47D7-8A5A-AE7742D5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Security and Data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4314-661F-4C15-AD11-536AA42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60F32-0799-494C-B791-A10A544C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03370-252B-4C96-9B16-7754F28D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280DC-4FE4-48A2-95AC-6FFD6AD9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CE45D-AA1F-4C9B-B019-C1447BB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089A0-B20E-4652-BAB6-2AFC0B02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Password hashing, secure session tokens and expiry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3C234-6016-4F77-B481-EA2E16BB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D203D-9FA5-43E4-B617-AE31547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D9C67-4933-4F39-846A-EB48163C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1DE1F-16BB-4DE7-AD13-63BE171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Protected routes with separate user and administrator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02426-B2C8-4A51-A905-957F07EA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5324A-4EDA-452A-9D18-8EF68F4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F0D8E-A792-4228-AC01-7D563091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Sensitive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ECC8F-2060-448E-BE55-EF25E075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User-specific data isolation with server-side API keys.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FB87E-CB0E-429B-BB82-FB5BB3D1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5124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02172-E51E-4C80-9EE3-79935D95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1143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96674-147F-4298-B458-942AA55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Input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34DBD-5561-4D85-ADFF-50D7714A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File checks, prediction input validation, consent and E.164 phone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EFAFA-AE85-43A5-AC9F-4616FBD8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537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C0C50-9E52-49DD-8859-730B05C2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Production deployment requires further privacy, consent, retention, compliance, monitoring and backup controls.</a:t>
            </a:r>
          </a:p>
        </p:txBody>
      </p:sp>
    </p:spTree>
    <p:extLst>
      <p:ext uri="{BB962C8B-B14F-4D97-AF65-F5344CB8AC3E}">
        <p14:creationId xmlns:p14="http://schemas.microsoft.com/office/powerpoint/2010/main" val="1455650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6AA03-9797-4E89-804D-7B018271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E8CD0-A445-4704-98F1-B4E0F45C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D1D79-6FD7-4F00-9480-832ED70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Testing Approach and Project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779D5-C891-4AF6-AF73-8EB49610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C480D-F44B-4A2C-B16A-A2575D49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40BBE-EC8E-4D01-8212-D7E4537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3F7AE-39AA-452F-86B9-22E848A8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125E7-5A6C-4CEE-B481-2EBDA53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Frontend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6B433-3729-4E7D-8B00-57DBEE5B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Form validation, errors and safe user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EDFB3-AF6C-4BC3-8A55-5CD9F6EF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E2E8E-91EE-41C7-9DA8-A89D100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23B29-1E05-491C-9793-AAC34E59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86155-28DA-4816-8F83-55F44E6A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API and authentication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28E6B-8B49-4B6B-A1D2-9D6FA0F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Session, authorization and service behaviour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6F4FC-4D8A-449F-A6CD-167AB4D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E9867-C017-401C-8950-9791DB0E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3E91D-D5C7-4526-BB09-6EFB400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25B56-AAD3-484E-8753-8E3FE30F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ML service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F277A-A9C8-4011-A257-614DC522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Prediction input validation and model-serving regression tests.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0EA70-675F-4345-9B5A-EA61EA7F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6F051-9F15-4D62-A13E-309A1AA2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8F2B6-D8A4-43AD-B128-D5189151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B1B93-C118-45C4-9C5F-301E439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Browser smoke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D477B-8DB0-462C-B57A-4D80E01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Selenium page-object tests for critical user 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1E254-0DD9-48E8-88D2-D4673902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80684-9EFE-4499-9430-95E1846F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93BC8-AECB-49A4-B537-160DF1FB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46418-EC2E-4A29-92D1-29CE395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Manual functional suite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832DB-F8DF-4CAC-AAD0-54FB8794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Login, chat, reports, appointments and administration test cases.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12AE8-0253-4229-AFAE-5BB13EE6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68EA17-6886-4A84-8249-CAA8E00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191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8B03F0-F02F-411E-90CD-5C2EE97A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75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Evidence boundary: automation assets and test plans exist; complete execution results must be collected in a configured local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1956069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BDBC20-C856-48A1-BC1F-07F7799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D29D0-4CF7-4EBC-91E2-CB287790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D595A-66CB-4DA8-BC45-9C4BFD69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Limitations and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96BFC-A084-4AD2-81EA-961670AB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C6682-40CD-4EB1-9E13-D43E2CA8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EF473-DC91-4744-8479-DF5E94E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Current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4AD51-C7AE-4A4A-B479-42ECEA5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03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32039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358E3-30FB-479A-910E-6788403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BE4D2-95B6-494C-98BC-5962291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534A0-EDD8-4BC9-B5B9-3FCA2BF1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3837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Informational system; not clinical diagnosis.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B527F-D4CD-43D9-8B97-C2145133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47CA2-B32F-4839-9052-55CA8A3D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62340-56B8-497F-AF16-A1190AD7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ML datasets require clinical validation and bias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4197D-852F-4F65-B568-176C9F3D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94A45-B353-4215-9DE8-36D65203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778DF-C2BD-476F-8BA8-49344ABC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0047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Gemini and Twilio require network configuration.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8289A-2FD3-4356-AD84-7B9A3153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048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11A98-45B1-4B81-A106-69E69FA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0E9D6-CFE5-4DC1-BFB1-5AA86BF8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81525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Production hosting, load testing and accessibility work remain pending.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86D7A-10D8-4BCC-9314-6289929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36AE5-BE28-4907-A694-867AC83D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95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F2EC5-0A66-477E-A11B-6A813459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Clinician review workflows and clearer safety escalation.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DF2F9-3517-4160-AADE-EE0E11F5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1465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81F65-CAD8-4DD5-BD45-423E5415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76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474AF-E155-4D89-863E-493EE35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194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Calibration, fairness analysis and explainable prediction output.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29EC8-65D8-475E-BCDC-9763B948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00902-8B77-4515-B388-F370A69E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576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CACE9-F9D4-4E49-AE6C-A6F7EFA6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004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Multilingual support and improved accessibility.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3F400-F06D-4D9D-848B-3AE0DCC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4857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7E7E4A-23E0-41B4-A96D-007350B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386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04EB2-9FDD-42F6-AB9F-22EFFE1E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8152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defPPr>
            <a:lvl1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1pPr>
            <a:lvl2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2pPr>
            <a:lvl3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3pPr>
            <a:lvl4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4pPr>
            <a:lvl5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5pPr>
            <a:lvl6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6pPr>
            <a:lvl7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7pPr>
            <a:lvl8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8pPr>
            <a:lvl9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Encrypted managed storage, monitoring, backup and automated testing.</a:t>
            </a:r>
          </a:p>
        </p:txBody>
      </p:sp>
    </p:spTree>
    <p:extLst>
      <p:ext uri="{BB962C8B-B14F-4D97-AF65-F5344CB8AC3E}">
        <p14:creationId xmlns:p14="http://schemas.microsoft.com/office/powerpoint/2010/main" val="1118180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0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50478-CF01-4ED3-A635-5731FF91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04BAB-08B9-47A6-BD5A-16B7572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1795B-28FC-4E61-957E-FFB8F75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F9FCF-4F01-4B45-B7D4-41CEE0F3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EDBC3-626E-4179-ACF1-4F22038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752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CE7F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CE7F8"/>
                </a:solidFill>
                <a:latin typeface="Calibri"/>
                <a:ea typeface="Calibri"/>
                <a:cs typeface="Calibri"/>
              </a:rPr>
              <a:t>AarogyamCareAI combines a React interface, Node/Express services, MySQL persistence, FastAPI prediction models and server-side Gemini integration in one healthcare-information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D4824-9FF2-4FE0-8F8F-C6C4D018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42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063D7-DD21-4112-9429-5A62F120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136AF-6A8F-49B2-8EBC-6E897F3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Health profile, chat, reports, predictions and appointments in one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7642B-0BD2-4E8D-B6D5-E346B189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42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B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F1CE8-41E2-484A-8388-CD66D13F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AI-assisted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CE773-9527-4ABB-B5C9-48DCF50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Gemini supports educational chat and report summaries.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1014B-F2C8-43AA-8849-1E0BE7D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42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8BC72-D399-427E-9876-BE78EA47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Educational ML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EC152-BBBA-47A1-884A-D90C5080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defPPr>
            <a:lvl1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  <a:lvl2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2pPr>
            <a:lvl3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3pPr>
            <a:lvl4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4pPr>
            <a:lvl5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5pPr>
            <a:lvl6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6pPr>
            <a:lvl7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7pPr>
            <a:lvl8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8pPr>
            <a:lvl9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Disease and cardiovascular risk features include explicit safety limits.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D1DB5-9978-418B-9472-81EC1891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CE4C9-1B3A-4DFE-B655-0050DBE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2C9E4-4AE7-472B-A8E7-D0CEDF44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E07B1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E07B1F"/>
                </a:solidFill>
                <a:latin typeface="Calibri"/>
                <a:ea typeface="Calibri"/>
                <a:cs typeface="Calibri"/>
              </a:rPr>
              <a:t>Questions?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1C68B-2904-404E-9015-A5CEB697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defPPr>
            <a:lvl1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1pPr>
            <a:lvl2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2pPr>
            <a:lvl3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3pPr>
            <a:lvl4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4pPr>
            <a:lvl5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5pPr>
            <a:lvl6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6pPr>
            <a:lvl7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7pPr>
            <a:lvl8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8pPr>
            <a:lvl9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93C5FD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3C5FD"/>
                </a:solidFill>
                <a:latin typeface="Calibri"/>
                <a:ea typeface="Calibri"/>
                <a:cs typeface="Calibri"/>
              </a:rPr>
              <a:t>AarogyamCareAI  |  MCA Mini Project – Review II</a:t>
            </a:r>
          </a:p>
        </p:txBody>
      </p:sp>
    </p:spTree>
    <p:extLst>
      <p:ext uri="{BB962C8B-B14F-4D97-AF65-F5344CB8AC3E}">
        <p14:creationId xmlns:p14="http://schemas.microsoft.com/office/powerpoint/2010/main" val="1892354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2026-10-21T18:08:20.4290000Z</dcterms:created>
  <dcterms:modified xsi:type="dcterms:W3CDTF">2026-10-21T18:08:20.4290000Z</dcterms:modified>
</coreProperties>
</file>