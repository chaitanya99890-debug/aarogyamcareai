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0bba1d146840b9" /><Relationship Type="http://schemas.openxmlformats.org/officeDocument/2006/relationships/extended-properties" Target="/docProps/app.xml" Id="Rf718302d48754ed9" /><Relationship Type="http://schemas.openxmlformats.org/officeDocument/2006/relationships/officeDocument" Target="/ppt/presentation.xml" Id="R3e9cb0f290c5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99b32651a7430a"/>
  </p:sldMasterIdLst>
  <p:notesMasterIdLst>
    <p:notesMasterId xmlns:r="http://schemas.openxmlformats.org/officeDocument/2006/relationships" r:id="Ra7f37ad31d1b49c2"/>
  </p:notesMasterIdLst>
  <p:sldIdLst>
    <p:sldId xmlns:r="http://schemas.openxmlformats.org/officeDocument/2006/relationships" id="256" r:id="Rb2ac4c2842424bf8"/>
    <p:sldId xmlns:r="http://schemas.openxmlformats.org/officeDocument/2006/relationships" id="257" r:id="R72ae454a72d24e1b"/>
    <p:sldId xmlns:r="http://schemas.openxmlformats.org/officeDocument/2006/relationships" id="258" r:id="Re952437c2856483c"/>
    <p:sldId xmlns:r="http://schemas.openxmlformats.org/officeDocument/2006/relationships" id="259" r:id="R4c2b0bbbae444075"/>
    <p:sldId xmlns:r="http://schemas.openxmlformats.org/officeDocument/2006/relationships" id="260" r:id="Rd4bca2e6abc24b06"/>
    <p:sldId xmlns:r="http://schemas.openxmlformats.org/officeDocument/2006/relationships" id="261" r:id="Rec5ed73299084bc3"/>
    <p:sldId xmlns:r="http://schemas.openxmlformats.org/officeDocument/2006/relationships" id="262" r:id="R8e5d9183a1c04c09"/>
    <p:sldId xmlns:r="http://schemas.openxmlformats.org/officeDocument/2006/relationships" id="263" r:id="R7f7ad27d72ba4e91"/>
    <p:sldId xmlns:r="http://schemas.openxmlformats.org/officeDocument/2006/relationships" id="264" r:id="R1aad12b383244dc7"/>
    <p:sldId xmlns:r="http://schemas.openxmlformats.org/officeDocument/2006/relationships" id="265" r:id="Rd8ed19bf152745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642ca0e004d07" /><Relationship Type="http://schemas.openxmlformats.org/officeDocument/2006/relationships/slideMaster" Target="/ppt/slideMasters/slideMaster1.xml" Id="R2799b32651a7430a" /><Relationship Type="http://schemas.openxmlformats.org/officeDocument/2006/relationships/notesMaster" Target="/ppt/notesMasters/notesMaster1.xml" Id="Ra7f37ad31d1b49c2" /><Relationship Type="http://schemas.openxmlformats.org/officeDocument/2006/relationships/presProps" Target="/ppt/presProps.xml" Id="Rd525281bd1154832" /><Relationship Type="http://schemas.openxmlformats.org/officeDocument/2006/relationships/tableStyles" Target="/ppt/tableStyles.xml" Id="R4444d7a10eac4182" /><Relationship Type="http://schemas.openxmlformats.org/officeDocument/2006/relationships/slide" Target="/ppt/slides/slide1.xml" Id="Rb2ac4c2842424bf8" /><Relationship Type="http://schemas.openxmlformats.org/officeDocument/2006/relationships/slide" Target="/ppt/slides/slide2.xml" Id="R72ae454a72d24e1b" /><Relationship Type="http://schemas.openxmlformats.org/officeDocument/2006/relationships/slide" Target="/ppt/slides/slide3.xml" Id="Re952437c2856483c" /><Relationship Type="http://schemas.openxmlformats.org/officeDocument/2006/relationships/slide" Target="/ppt/slides/slide4.xml" Id="R4c2b0bbbae444075" /><Relationship Type="http://schemas.openxmlformats.org/officeDocument/2006/relationships/slide" Target="/ppt/slides/slide5.xml" Id="Rd4bca2e6abc24b06" /><Relationship Type="http://schemas.openxmlformats.org/officeDocument/2006/relationships/slide" Target="/ppt/slides/slide6.xml" Id="Rec5ed73299084bc3" /><Relationship Type="http://schemas.openxmlformats.org/officeDocument/2006/relationships/slide" Target="/ppt/slides/slide7.xml" Id="R8e5d9183a1c04c09" /><Relationship Type="http://schemas.openxmlformats.org/officeDocument/2006/relationships/slide" Target="/ppt/slides/slide8.xml" Id="R7f7ad27d72ba4e91" /><Relationship Type="http://schemas.openxmlformats.org/officeDocument/2006/relationships/slide" Target="/ppt/slides/slide9.xml" Id="R1aad12b383244dc7" /><Relationship Type="http://schemas.openxmlformats.org/officeDocument/2006/relationships/slide" Target="/ppt/slides/slide10.xml" Id="Rd8ed19bf152745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b40fc23e45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c831f008dc4ce1" /><Relationship Type="http://schemas.openxmlformats.org/officeDocument/2006/relationships/notesMaster" Target="/ppt/notesMasters/notesMaster1.xml" Id="R7361b7a55a50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c86838d9ae48b2" /><Relationship Type="http://schemas.openxmlformats.org/officeDocument/2006/relationships/notesMaster" Target="/ppt/notesMasters/notesMaster1.xml" Id="R6c48aedd1bcf4e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6af1f54f0d49a2" /><Relationship Type="http://schemas.openxmlformats.org/officeDocument/2006/relationships/notesMaster" Target="/ppt/notesMasters/notesMaster1.xml" Id="Rcf53bca8ab64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b346bb664a4d77" /><Relationship Type="http://schemas.openxmlformats.org/officeDocument/2006/relationships/notesMaster" Target="/ppt/notesMasters/notesMaster1.xml" Id="Rb30d9c14fb3244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1fab355f1143e2" /><Relationship Type="http://schemas.openxmlformats.org/officeDocument/2006/relationships/notesMaster" Target="/ppt/notesMasters/notesMaster1.xml" Id="R1650b0fe27d14e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a8772871604eb7" /><Relationship Type="http://schemas.openxmlformats.org/officeDocument/2006/relationships/notesMaster" Target="/ppt/notesMasters/notesMaster1.xml" Id="Ra92c03c179e745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9a27205b744eee" /><Relationship Type="http://schemas.openxmlformats.org/officeDocument/2006/relationships/notesMaster" Target="/ppt/notesMasters/notesMaster1.xml" Id="Rb741fc73842040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2981a31ff64454" /><Relationship Type="http://schemas.openxmlformats.org/officeDocument/2006/relationships/notesMaster" Target="/ppt/notesMasters/notesMaster1.xml" Id="Rfac02979c5434f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0da733868b4849" /><Relationship Type="http://schemas.openxmlformats.org/officeDocument/2006/relationships/notesMaster" Target="/ppt/notesMasters/notesMaster1.xml" Id="R0f8453988cb344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3cfb06afb14e52" /><Relationship Type="http://schemas.openxmlformats.org/officeDocument/2006/relationships/notesMaster" Target="/ppt/notesMasters/notesMaster1.xml" Id="R4e51e068550642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845f5176d48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db2159c0749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22871bde041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e6b92f68447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c78598ad042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317d64fde4c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8B580A-9528-4E8A-9A8B-7AF8EE7B5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312048-58BA-49AE-A461-58CD2CE0BA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C1F998-D5F0-483A-AE70-8A779806B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3970DB-5401-4D3B-8C51-6FB8F53C07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DF3D0F-6585-4755-9AD0-37D6AD1C8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0286DC-3562-423B-8AB8-01BBD98AD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CA2321-4C1A-4BA4-8909-35657CA32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3ED03A-D1D8-44E9-BEB4-DD1F6D4CB5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84208F-5B62-4E5C-AA8F-C529FFF2B2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84DAB9-6177-4782-99AD-8E83B33D67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0697799c324687" /><Relationship Type="http://schemas.openxmlformats.org/officeDocument/2006/relationships/slideLayout" Target="/ppt/slideLayouts/slideLayout1.xml" Id="Rf8bd15e43cdb40a6" /><Relationship Type="http://schemas.openxmlformats.org/officeDocument/2006/relationships/slideLayout" Target="/ppt/slideLayouts/slideLayout2.xml" Id="Rf0f8ac75703e488c" /><Relationship Type="http://schemas.openxmlformats.org/officeDocument/2006/relationships/slideLayout" Target="/ppt/slideLayouts/slideLayout3.xml" Id="R867e03bbb60d47c4" /><Relationship Type="http://schemas.openxmlformats.org/officeDocument/2006/relationships/slideLayout" Target="/ppt/slideLayouts/slideLayout4.xml" Id="Rec890b5703ab4333" /><Relationship Type="http://schemas.openxmlformats.org/officeDocument/2006/relationships/slideLayout" Target="/ppt/slideLayouts/slideLayout5.xml" Id="Rf9aec5a6522f43a9" /><Relationship Type="http://schemas.openxmlformats.org/officeDocument/2006/relationships/slideLayout" Target="/ppt/slideLayouts/slideLayout6.xml" Id="Raf02258ff30c43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d15e43cdb40a6"/>
    <p:sldLayoutId xmlns:r="http://schemas.openxmlformats.org/officeDocument/2006/relationships" id="2147483650" r:id="Rf0f8ac75703e488c"/>
    <p:sldLayoutId xmlns:r="http://schemas.openxmlformats.org/officeDocument/2006/relationships" id="2147483651" r:id="R867e03bbb60d47c4"/>
    <p:sldLayoutId xmlns:r="http://schemas.openxmlformats.org/officeDocument/2006/relationships" id="2147483652" r:id="Rec890b5703ab4333"/>
    <p:sldLayoutId xmlns:r="http://schemas.openxmlformats.org/officeDocument/2006/relationships" id="2147483653" r:id="Rf9aec5a6522f43a9"/>
    <p:sldLayoutId xmlns:r="http://schemas.openxmlformats.org/officeDocument/2006/relationships" id="2147483654" r:id="Raf02258ff30c43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d53fa5fed48c6" /><Relationship Type="http://schemas.openxmlformats.org/officeDocument/2006/relationships/notesSlide" Target="/ppt/notesSlides/notesSlide1.xml" Id="Raaec347914dc4a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429ff5bf442ae" /><Relationship Type="http://schemas.openxmlformats.org/officeDocument/2006/relationships/notesSlide" Target="/ppt/notesSlides/notesSlide2.xml" Id="Rfa751cd3fcaa44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9d81910c84c5d" /><Relationship Type="http://schemas.openxmlformats.org/officeDocument/2006/relationships/notesSlide" Target="/ppt/notesSlides/notesSlide3.xml" Id="R916d62ed738c4a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da54855084c20" /><Relationship Type="http://schemas.openxmlformats.org/officeDocument/2006/relationships/notesSlide" Target="/ppt/notesSlides/notesSlide4.xml" Id="Rc6e26b51bb1248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dea81ade7443a" /><Relationship Type="http://schemas.openxmlformats.org/officeDocument/2006/relationships/notesSlide" Target="/ppt/notesSlides/notesSlide5.xml" Id="R5faf86d92aa1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955cf7eb34365" /><Relationship Type="http://schemas.openxmlformats.org/officeDocument/2006/relationships/notesSlide" Target="/ppt/notesSlides/notesSlide6.xml" Id="R602e5d613c5240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3920cf81341c7" /><Relationship Type="http://schemas.openxmlformats.org/officeDocument/2006/relationships/notesSlide" Target="/ppt/notesSlides/notesSlide7.xml" Id="R90059332708148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cee73379d4b7d" /><Relationship Type="http://schemas.openxmlformats.org/officeDocument/2006/relationships/notesSlide" Target="/ppt/notesSlides/notesSlide8.xml" Id="Rbfbf500c596e42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147bd6e9c4486" /><Relationship Type="http://schemas.openxmlformats.org/officeDocument/2006/relationships/notesSlide" Target="/ppt/notesSlides/notesSlide9.xml" Id="Rbf8e8b49dd8743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bb3b117b9141a2" /><Relationship Type="http://schemas.openxmlformats.org/officeDocument/2006/relationships/notesSlide" Target="/ppt/notesSlides/notesSlide10.xml" Id="R2c5ec1051ece4b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4DC911-FA74-4FE0-8044-80498F42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42CA7-2D67-407B-90A9-E33E1720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0B972-02CF-4262-BF06-822504A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6667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F73D3-CC63-4069-A05A-10E21F3A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66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MCA MINI PROJECT – REVIEW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5EB87-A575-4BE9-8521-E5DEED2A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CD3C-072F-4086-BED5-E2EE472B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DCE7F8"/>
                </a:solidFill>
                <a:latin typeface="Calibri"/>
                <a:ea typeface="Calibri"/>
                <a:cs typeface="Calibri"/>
              </a:rPr>
              <a:t>AI-powered healthcare-information companion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0AD8D-5536-4794-9189-F88F003C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defPPr>
            <a:lvl1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1pPr>
            <a:lvl2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2pPr>
            <a:lvl3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3pPr>
            <a:lvl4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4pPr>
            <a:lvl5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5pPr>
            <a:lvl6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6pPr>
            <a:lvl7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7pPr>
            <a:lvl8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8pPr>
            <a:lvl9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DCE7F8"/>
                </a:solidFill>
                <a:latin typeface="Calibri"/>
                <a:ea typeface="Calibri"/>
                <a:cs typeface="Calibri"/>
              </a:rPr>
              <a:t>Health information, predictions and appointments</a:t>
            </a:r>
          </a:p>
          <a:p xmlns:a="http://schemas.openxmlformats.org/drawingml/2006/main">
            <a: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DCE7F8"/>
                </a:solidFill>
                <a:latin typeface="Calibri"/>
                <a:ea typeface="Calibri"/>
                <a:cs typeface="Calibri"/>
              </a:rPr>
              <a:t>in one authenticated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97641-1EB0-4E4B-9572-D3CD36AD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[Student Name]  |  [Roll Number]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9177D-1188-437D-90D0-64D61C0C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Guide: [Guide Name]</a:t>
            </a:r>
          </a:p>
          <a:p xmlns:a="http://schemas.openxmlformats.org/drawingml/2006/main">
            <a: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52F7F-549A-45A7-A026-8B18214C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2667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2968B-4A8A-4762-97EF-CD5E80B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03125-33CA-48CA-BA2B-A8C240B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defPPr>
            <a:lvl1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1pPr>
            <a:lvl2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2pPr>
            <a:lvl3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3pPr>
            <a:lvl4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4pPr>
            <a:lvl5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5pPr>
            <a:lvl6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6pPr>
            <a:lvl7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7pPr>
            <a:lvl8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8pPr>
            <a:lvl9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A33A1-8B81-41BC-979B-126FF7E6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HEALTHCARE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9E453-6DE7-4657-9D5B-B573C6D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4D5D6-6633-4CC7-A2D7-19B5583C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25DE9-817E-4AE1-AD3D-A929E49D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19129-FA5B-4ED4-AD1E-EB130FE9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24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36E56-281C-41B7-AF6E-3CA7BB7E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667125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1D793-38A7-4F88-A1D4-87DE521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623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E5A68-88D0-4F9A-9949-96E1930B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CAF81-0F3F-46DE-8F16-674BBE5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A6B09-AE94-40B4-AA32-ADB5166B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28800"/>
            <a:ext cx="142875" cy="3619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3C5F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DBF14-05E3-4888-89B3-ACB67DA8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47850"/>
            <a:ext cx="38100" cy="3619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184D0-8714-4D98-AF64-42AFDE34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48050"/>
            <a:ext cx="619125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EEA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AF784-5168-47B7-9725-2287CAEE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52800"/>
            <a:ext cx="381000" cy="5524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DB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04E17-9EA7-4C07-9967-02A55E67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defPPr>
            <a:lvl1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1pPr>
            <a:lvl2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2pPr>
            <a:lvl3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3pPr>
            <a:lvl4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4pPr>
            <a:lvl5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5pPr>
            <a:lvl6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6pPr>
            <a:lvl7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7pPr>
            <a:lvl8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8pPr>
            <a:lvl9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93C5FD"/>
                </a:solidFill>
                <a:latin typeface="Calibri"/>
                <a:ea typeface="Calibri"/>
                <a:cs typeface="Calibri"/>
              </a:rPr>
              <a:t>Informational support only. Not a replacement for medical diagnosis or emergency care.</a:t>
            </a:r>
          </a:p>
        </p:txBody>
      </p:sp>
    </p:spTree>
    <p:extLst>
      <p:ext uri="{BB962C8B-B14F-4D97-AF65-F5344CB8AC3E}">
        <p14:creationId xmlns:p14="http://schemas.microsoft.com/office/powerpoint/2010/main" val="534150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25A378-9C35-464E-A673-FF4EC233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3C787-CBE7-44CE-8741-915CCEE6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04301-C1C0-404A-AE9C-8AD5547C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Problem, Need and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4BCE6-54E7-4AC4-8F88-101D0BB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24DE4-0263-4E36-B4DC-31261A5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BCDBF-F751-4157-900A-4567D0D2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Existing challenges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7C33A-AA98-4831-800B-99CCDD9F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716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AarogyamCareAI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9B306-EF10-4D51-AABA-B64A95D4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77A87-1C6B-41AE-8454-50CB1398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F38A0-70D3-4D47-8D37-1C686093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AE4E6-C4B2-4194-A6D1-7D3B66FF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Fragmented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7A8C6-8170-4B10-A46A-D3B58BDC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Reports, appointments and guidance sit in separate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6F136-DB0F-4309-9045-94FC32A2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BDAE5-403E-4A53-95BC-9732EF3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D14CD-A54B-48A8-9B62-9518C3A5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1E84F-04B1-4836-955C-8537288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Difficult terminology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61EC6-868C-4310-97D9-327C8DFE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Medical-report language may be hard for users to understand.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D9FC6-F150-4ED8-9343-9A1E0721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490D1-6B10-451D-8AD8-A4F3349C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3E266-AE39-4639-B2F5-8249C656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6069D-F7D9-4CE7-80E7-BD1AF3EB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Disconnected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7287D-5BBC-48B2-9301-6AC88903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Chat, prediction and appointment records are not unified.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E9311-17B6-455E-80BB-D714C102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7E88A-E8A2-4C5E-B3EB-3147EEB1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216F5-A4D7-4264-9313-44D1E4B3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850B1A-1675-480A-AD77-53446AE2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Unified health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B7FF6A-0498-4A88-9499-973FD2CF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One authenticated application for personal health workflows.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6A6FD1-0194-4ABA-B859-33096D8E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2459E-EE0A-4E76-8425-A896C0BC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833750-3BD1-46BC-8E2C-18A95C52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43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5B690-B049-4B2B-9AF9-B267154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AI-assisted information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1258D-649C-4399-AB53-C9CD9C31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Gemini-powered chat and structured report analysis.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C6651-7E93-4144-A4B0-C7A22EB2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A55C60-F055-457C-8ED0-6378DAE9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577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E578DF-FD05-4927-8E7E-B03B30D3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109813-1732-48CB-92F1-53A70941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577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Personal records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B8E868-00BB-4D9B-8C05-9D7D9EF8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149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Predictions, reports and appointments are linked to the user.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496FA3-DF9B-4D24-85AD-FA08D23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0763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E75FAC-83EE-46E6-AE48-8E714931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33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Objective: provide educational health information, model-supported predictions, report summaries and appointment support in one secure workflow.</a:t>
            </a:r>
          </a:p>
        </p:txBody>
      </p:sp>
    </p:spTree>
    <p:extLst>
      <p:ext uri="{BB962C8B-B14F-4D97-AF65-F5344CB8AC3E}">
        <p14:creationId xmlns:p14="http://schemas.microsoft.com/office/powerpoint/2010/main" val="1389507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F5648F-9D75-40BB-9559-21AA1615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1445B-0191-4E56-BD34-A4D3DD7C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0116E-E125-4EE2-BDB8-F18BAAB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Architecture and 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CD1F8-C156-4B20-81AA-47FE4C9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516B9-C9E1-431B-AF99-5684FA6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96D03-57A8-4EDB-A673-4D2D1D33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394C6-948E-4B87-8ADE-B5CB9855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266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A70CC-EC4C-4277-A2C7-44C1AE1C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E36BA-8BA8-4FF3-B132-C79EC536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React 19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TypeScript · Vite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Tailwind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20F34-89A2-4228-9FA8-0226162A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764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C1EDB-5FEF-4D64-B915-397D4EC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9B9EB-2297-46BF-BE24-3FC04539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266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8C91E-2FB9-40AC-B9B3-06675031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335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Node.js + Express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8189F-CCFB-4281-85BA-914817E9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Authentication · API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 integration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Appointments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82417-E10E-4AFC-89DB-691F5080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764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6E319-19C9-4F14-B11E-1ECFD80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57375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D3F53-269E-4DA4-B525-48F3AFD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57375"/>
            <a:ext cx="2266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B6949-B0D0-4638-A3A3-92236B44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335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CF0C8-D79D-4DB9-A4D3-ED68BBFD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Users · sessions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profiles · chat · reports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predictions · appointments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02814-9160-4A44-8082-4CBB2A16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57375"/>
            <a:ext cx="23431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C54C2-2242-4DA6-AFD7-57895BE5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383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Python FastAPI ML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A1F9D-B334-4E8F-83F4-C6D4B163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4792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Disease prediction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Cardiovascular risk model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scikit-learn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92D06-7DA2-41A4-AD51-67ED2F9D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07B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A0AD5-77CA-42D7-ABC1-0145B7ED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External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2C7DE-92EF-4C5C-87B4-7BCADD82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3333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58007-A0CA-4A2E-AD8D-CF9A4C64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Google Gemini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C1F54-F9A7-47AF-96EF-C380F5C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Informational chatbot and structured report 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77DD4-6D10-4DA7-BF59-377C358D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52925"/>
            <a:ext cx="3333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A2C67-4C8B-4346-88BD-5F7CDE55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Twilio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8635E-1BB7-49B7-8E02-84B6E239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0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Optional consent-based SMS appointment reminders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89E19-5F86-4DA1-B511-8A8D7C7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52925"/>
            <a:ext cx="34004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5CB773-2198-43D0-8D17-B3A72DE0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Security 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A796C6-B619-4C52-8432-37A84220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0125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 and database credentials remain server-side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FC1B0-7CA7-4EF7-B1D3-6D55B1BE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047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93A599-6EB5-44C2-9E8C-7160F1A9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Frontend: React + TypeScript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53BB06-62C8-42B3-AE51-DF843B6F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10250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F8C609-2782-4936-B236-EB4FB069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29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Backend: Node + Express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72EA2-96A5-4572-9A50-27B1E072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43F71F-1520-4DF5-AF42-4426607E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293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ML: Python + FastAPI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BAD29D-E52C-450E-B35A-A7D8E2BA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10250"/>
            <a:ext cx="1524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F4D221-67C1-4F8D-9700-B9D39819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Database: MySQL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86A27C-D6ED-40F1-90A5-4482C9B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10250"/>
            <a:ext cx="1190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17C5AC-352E-49D3-AE4C-FAED93C5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293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AI: Gemini</a:t>
            </a:r>
          </a:p>
        </p:txBody>
      </p:sp>
    </p:spTree>
    <p:extLst>
      <p:ext uri="{BB962C8B-B14F-4D97-AF65-F5344CB8AC3E}">
        <p14:creationId xmlns:p14="http://schemas.microsoft.com/office/powerpoint/2010/main" val="54781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687E82-7726-42B2-91CE-43A15F4F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9CE35-0FEE-45E7-81E0-648EDF24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42DAC-4006-4808-967A-C8EA97C9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Implementation: Main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23B8D-7404-463A-93D6-FC574532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103ED-D57E-471B-B45B-E30F26E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899BF-0345-4277-835F-2E66DDFF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E0984-4DC9-48ED-8171-3158987C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8ED37-6B33-4B4E-8239-8F5E6064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E83EE-9518-4A2F-B656-30F07A2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Authentication and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4F199-FA46-4E17-B48D-2944615C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Registration, login, password hashing, sessions and user/admin access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88CA9-605D-4EE1-AEFF-D36053B1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D91A9-6E29-4C48-8AE5-DC5CB77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6CE92-1D81-4D09-B7DC-C948C01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9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71947-C313-4657-BEF3-A70F90E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Health 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D94B4-B00F-40B5-833C-895A61F3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Personal health details, allergies, conditions and emergency contact fields.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491A4-9A97-4C73-97A0-50147A5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ED4FC-05A0-47C3-85C3-DC8F3DA4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92292-45A8-41D8-8D16-AEF5E026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E747D-50D9-4A6F-A3C4-26200EA1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AI Health Assistant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4AA5D-A274-4D3F-82DE-744198F2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Gemini-powered educational chat with stored conversation history.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3456F-FB55-4694-9229-4D906F14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8CA64-220A-4241-BA52-BEF821F6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B469E1-CF13-4E52-8BB7-43332718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A6FAA-D8DD-4D01-B996-155071B4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Disease and Risk Prediction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28486-9360-4013-BD5C-C35097C0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Symptom-based possible-condition prediction and cardiovascular risk estimation.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D955-DC4B-43DD-BC60-478B0AC4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57D8C-BA5F-41AF-B9F6-7F76273A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6EFA6-779D-46B3-8EE8-5DDC8AC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04F7F-33FB-467E-B043-DBFDCAE6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Medical Report Analysis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40423-B868-41F0-8AB0-65133B4F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PDF, PNG and JPEG input with structured informational summary.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012BD-72C9-4BA8-8AC7-B4BAB361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19D49-3D6B-44F5-9676-536D2E2B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A9C5F-58E5-476D-95C2-DF320D38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624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9EDA6C-64F2-4B04-A814-3F6A681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Appointments and Administration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1AEDB-B041-453F-8606-81034120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Scheduling, consent-based reminders and protected admin monitoring.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C7B3AF-C603-44A7-852D-8ACFB05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All health-related results remain educational outputs and require professional medical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626618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4DD4FB-DFFC-40B8-94CF-B0D16E55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80494-9DD6-4D06-9F8D-512FFCC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95550-31A8-4475-B450-A781C79E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Database Design: MySQL Persistence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0BBC4-79B9-46B1-BA85-35A4D7E3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E0D8B-EC57-4D7D-9ECD-18E56E57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C91A2-4B22-4D0C-8466-579873AE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9215C-9292-4736-A44C-0C4CF279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430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9A7A9-11CB-4AE1-B2D4-BA649D8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71700"/>
            <a:ext cx="441007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1B2FE-0EF8-471C-BB20-4C16DCE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4E061-942F-48C3-ACE3-07CA2C6D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auth_sessions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15E23-117E-411E-8765-764F4A99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71700"/>
            <a:ext cx="225742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9DA41-B9B8-4152-8C9C-B2BE989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5A0D9-26FC-4F87-B019-7FC60096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health_profiles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E7666-0A74-44B5-AC4D-C6A0D606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71700"/>
            <a:ext cx="10477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07B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895D6-BBD3-4385-83CF-2CD8BC70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B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BE0FB-AFB8-4EE3-8817-79E46516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chat_conversations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BC22D-BF28-49D0-B83D-74E3CE12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254317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F5DF2-BB59-4462-8C52-5FD6D4E3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95312-E5E9-485F-866F-EE50057F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disease_predictions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82753-EA94-4A81-B032-A5CCBF85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469582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9931D-0209-41F9-B819-549BD91C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21F7D-F071-40FB-95C4-00F8EBC4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risk_assessments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0E637-E4BA-492D-B1AC-BED356E2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1952625" cy="1962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07B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4CD64-6212-4393-A395-DD8B598D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B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194E9-729C-42DE-A112-F6EF4415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57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medical_reports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A915E-163C-43B7-A2A9-F3D90E60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714375" cy="1962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9E910-5E18-45CB-A850-DFEDDA26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33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9B8AC-9E50-443C-9A4B-F3880E3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57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appointments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D0667D-F16C-4722-9496-03F1C804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3381375" cy="1962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EB6A0-915C-4DB3-A5E4-6EF741EA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33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8B33D0-6189-4C8C-A55F-DABA79AA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57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admin_audit_logs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656CA0-72C7-4B01-B7A8-A8B7BF7E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2524125" cy="3105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07B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EB6B4F-A8F8-47D6-B76B-54D29820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76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B1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4D24C9-2AB9-4F59-B128-9C47BEDD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00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report_analyses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6653C3-2137-42FF-9DD9-F41CA2CB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123825" cy="3105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61E0DE-E5B2-43A2-9977-4D7C2E7D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330D00-D099-43A7-A3D0-343A8D99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00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chat_messages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EA9242-4DC4-4E8F-A8DF-5C5F7DE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2771775" cy="3105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DDD03E-B3D2-40BE-95FE-5F06BBA6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76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B7315-3E00-4407-8E6F-04640A3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00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appointment_sms_logs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1B0738-C730-47C9-A893-34C10E95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050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 : 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F1DA0E-86BD-4A0A-B5E9-C47B5F2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0"/>
            <a:ext cx="10763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7563CC-3852-43DB-A633-FB56EB0E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62675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11 related tables in MySQL: user-owned records, foreign-key links, session handling and audit support.</a:t>
            </a:r>
          </a:p>
        </p:txBody>
      </p:sp>
    </p:spTree>
    <p:extLst>
      <p:ext uri="{BB962C8B-B14F-4D97-AF65-F5344CB8AC3E}">
        <p14:creationId xmlns:p14="http://schemas.microsoft.com/office/powerpoint/2010/main" val="412782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E24E09-3FC9-4810-AE55-751B8724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59EE7-F7C6-4EE7-99F9-0D37E2F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8E368-CC99-4545-B984-3E7F445A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8D5E9-67DF-40CF-B466-063D148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1125E-9DA9-447A-8136-5B7E739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1D1D3-5638-4F44-BB15-7D55C896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AI and ML health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0DEB1-EB8E-4440-B08C-C782F006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33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FA1B9-8EDB-4ACF-ADD3-7573EA34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F5496-524B-4EFC-BAA0-71E17527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C3CD2-1B3D-4F8C-BFC3-1033F98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95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A0A39-F687-4DE3-9135-7E73020C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050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 health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B30E2-895E-421E-A181-99186625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7B1D6-B9B8-4582-9C72-288C2371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38350"/>
            <a:ext cx="1047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3095B-A95A-409A-B1E9-C6CDC1C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05025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4329A-B2FD-48D5-A667-D1D7686F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EA476-9E29-4DCB-9457-9131608E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1504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BEF86-B91C-42DA-A51D-3ECD569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050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Gemini or ML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415C7-553A-4158-A977-1B7E425C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9047C-7188-48E9-B68B-67FD0D17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1381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8D7A1-68C4-4F63-8DE6-EE8561EC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050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Informational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0CF96-BACD-41E2-AFBF-033F7638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34517-A219-4941-BE2E-FB111834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1123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0C378-2A71-4A1D-92EB-B07565B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05025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Save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ADC56-94CD-42A9-8D5F-3231649B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Appointment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3C981-C69F-4EE8-A6FD-DCF27A72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933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AC6B7-A526-4D96-8969-58C85DBD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1DBB1-6F2C-446A-B1B6-590DFAA4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C3EF7-48EB-460B-8C58-E732A9A0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1381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71A84A-E70E-468A-9A16-A62BCEB7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100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Appointment details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839B1-6D55-4BAD-B035-3BC0B8E6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3A91C-C3AE-43BB-BAEB-AE332CA2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1285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0D954-8A46-4881-BCFC-8D59B18F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010025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for SMS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FCD3F4-9F56-4F15-B77E-6D9DFC66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4A6D46-02ED-4DEB-AEDA-A2E4765B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43350"/>
            <a:ext cx="1333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D170D8-A194-459A-96D4-BCFF83B7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1002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Store appointment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CD483E-A34A-4BFA-ADC9-42BE71C7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C9AE78-E440-4162-8AA7-84958A1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1219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148A0C-2466-492A-9466-D2F2B9E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100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Scheduler checks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E3B8D9-BCA2-428D-B9CC-685B6085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571F5F-140E-4610-B792-F6E27C81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1666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549B2C-55BA-4647-84D8-2B49B9A4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00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Twilio SMS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813BE3-AAA5-4DC6-8F64-B55EF366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7537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6862ED-1CC3-4A1F-BC72-3C9EE015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36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Outputs provide educational information. The application does not diagnose conditions, prescribe treatment or replace emergency care.</a:t>
            </a:r>
          </a:p>
        </p:txBody>
      </p:sp>
    </p:spTree>
    <p:extLst>
      <p:ext uri="{BB962C8B-B14F-4D97-AF65-F5344CB8AC3E}">
        <p14:creationId xmlns:p14="http://schemas.microsoft.com/office/powerpoint/2010/main" val="2637132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263E2-E665-401D-ABC1-C3C7784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D262A-CEE7-4BDD-B588-E59D9D7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E0C1A-5224-4BCB-AD53-B97A4BE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Security and Data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DC9A6-4698-4B79-98A5-CC58D5D2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92D10-212C-437B-A0DD-C3FC3305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9B7FE-6B30-4063-A949-C171121C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124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1CEB1-F12F-4ED4-9D38-FA748DE0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4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282FC-E01D-4F1F-87B5-F0465D8A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41816-71CB-4AC6-9F74-D02D832E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Password hashing, secure session tokens and expiry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D7D4F-2400-44F2-8646-8C7D15AB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5124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CAD60-DA32-419C-BE52-590089A2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14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ACE4D-1394-43B6-BAFF-5471E6C7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Authorization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C3B0A-3058-4EDE-A05C-5B2701D0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Protected routes with separate user and administrator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AEE65-E825-4DF2-96B4-F0C4F2C4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5124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96E6C-0316-4028-A667-C57A0EC9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4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D22C3-C43D-4888-B26C-D4642E1D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Sensitive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3B4E6-107E-4061-A153-A883D30B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User-specific data isolation with server-side API keys.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06FC0-1AA3-48B7-B95D-0F585DBB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5124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0E34A-022D-4B95-BC95-459C9E90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114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BD18D-DBD5-4231-A6E9-26CE909A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Input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C5263-D985-41F7-B3D8-2C7670D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File checks, prediction input validation, consent and E.164 phone validation.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EC3EE-B972-4CD3-B4B9-26354420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537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B6ED6-F3E0-4784-BEA1-6822311D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Production deployment requires further privacy, consent, retention, compliance, monitoring and backup controls.</a:t>
            </a:r>
          </a:p>
        </p:txBody>
      </p:sp>
    </p:spTree>
    <p:extLst>
      <p:ext uri="{BB962C8B-B14F-4D97-AF65-F5344CB8AC3E}">
        <p14:creationId xmlns:p14="http://schemas.microsoft.com/office/powerpoint/2010/main" val="414331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761892-FDC2-4D3D-9310-A72E1BB5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D06F4-202A-4338-97B0-308B8D52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18414-49AE-4921-8251-124567C1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Testing Approach and Project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9EBAB-9805-457B-AE95-1119913B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C6A82-9583-4A36-8136-ACC565B6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AC457-9B43-412E-94C8-07D4271C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DB1A7-CD7A-4CD7-8753-38724AA8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2892D-D2E8-41BA-B59E-450F8ABB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Frontend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AACF5-4987-40A4-AD56-169FAAA2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Form validation, errors and safe user feedback.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6EF23-9290-4028-90F0-CEC477F4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8160E-18A2-465B-9555-8E504BED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8E060-EDC5-433B-8ADC-118B96B0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6C802-6533-4CD4-9B31-3C062D1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API and authentication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DE5A8-1F26-410B-81F3-95E4149E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Session, authorization and service behaviour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01250-7353-411E-B5A1-521EFF26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3CF69-474B-4396-B945-C1682409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9529B-BC33-42B3-9C26-C337E533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E0A8F-1D38-4B03-8B45-2DF451F3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ML service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B92DD-D82D-4339-B537-0188204C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Prediction input validation and model-serving regression tests.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6CDD5-AF4F-48A6-9CA7-24D35E27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D57F7-BF07-4BAC-B0AE-7B932A5E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A0AD5-7CDD-4A5F-8AD7-98297CDB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C769B-4F6F-49BD-A42D-595FAB5D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Browser smoke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53E8E-42A0-4E2D-BCC4-EDE90BB3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Selenium page-object tests for critical user 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BE704-7B16-4263-A4B9-646F09F1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5AC0D-4BCB-4FF7-AAF3-BE1C3596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54C8D-087E-4A7E-B0DE-300C8C5F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E0B29-8BD2-4B0A-B1CD-DEE7C75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Manual functional suite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AD27D-AD57-493E-8103-2974990A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Login, chat, reports, appointments and administration test cases.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5E0A12-9277-4509-9AE3-CC2EDEB7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A23852-6159-43E6-BC47-A04E9BF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191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2FA8D-138F-4CF9-9685-6E322F3A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75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Evidence boundary: automation assets and test plans exist; complete execution results must be collected in a configured local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1756188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8994A-B8A3-43B1-ACE6-CEBC56CF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EF607-6D1C-4A2F-9F61-5B26210B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7F858-7ACB-4A50-9583-7B83D578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Limitations and Future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8FED1-0380-4725-8ADB-540F5A7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A21B4-94B5-425B-93E4-EA5F76A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FB738-8639-4132-B10C-70C3437E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Current 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B048B-ED8B-4B46-96F9-2C9FD2E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3568C-FE53-4105-8FBD-55E66F8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B8958-0490-417B-AD02-2BC892C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46B07-6CE1-405D-A767-7C4CA5B0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Informational system; not clinical diagnosis.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5D6BE-4D6E-464B-A570-03BEE693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68C75-C5B3-47E6-BD64-B8F9E3F2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1EB95-6DDF-47CA-AE03-F0EBD372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ML datasets require clinical validation and bias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998AE-FA3A-4EAD-AB93-14370AD1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2A1D8-3921-470F-9A52-5A0BF13D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13238-9953-451F-AFFD-76A9FFCB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0047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 and Twilio require network configuration.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97E69-9FC6-4CFC-BF57-19ACD10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F2070-B668-4C3C-AAE5-924843D7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CCBAB-193D-4663-B49B-1025C6CD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Production hosting, load testing and accessibility work remain pending.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5044B-F6E5-4842-94CC-5DDC6C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3213F-72A5-455A-9929-FD7702E9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955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F53C2-1E07-4734-8694-72A19BA6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Clinician review workflows and clearer safety escalation.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E4C05-725C-46B2-AFE6-4E68B04D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1465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A49C9-7065-4956-8F18-DCCC73A3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765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4E39D-5E3D-448E-911E-EF66D506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194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Calibration, fairness analysis and explainable prediction output.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CF579-A011-4969-9102-B598784E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9570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5575E-98CA-4165-98D6-C0EB50A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576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1C64A-13FD-42CE-9C78-B737287B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004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Multilingual support and improved accessibility.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B2663-5738-4EA7-A0B2-055F1971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7675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40464-05D4-4C54-9E5D-AD09B2FD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386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FA5DD-D6AF-46B4-A7E1-7297180D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815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Encrypted managed storage, monitoring, backup and automated testing.</a:t>
            </a:r>
          </a:p>
        </p:txBody>
      </p:sp>
    </p:spTree>
    <p:extLst>
      <p:ext uri="{BB962C8B-B14F-4D97-AF65-F5344CB8AC3E}">
        <p14:creationId xmlns:p14="http://schemas.microsoft.com/office/powerpoint/2010/main" val="1167478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2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7772B-F8EE-4534-AB28-9CBE7C3A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6D72A-EFE2-4FAC-8E74-DE06FC4E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87965-8E2E-42F7-BB1C-38EF9491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2A157-6C9C-4722-AFE6-1C54E88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8D940-8D56-4893-861B-7A78897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752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CE7F8"/>
                </a:solidFill>
                <a:latin typeface="Calibri"/>
                <a:ea typeface="Calibri"/>
                <a:cs typeface="Calibri"/>
              </a:rPr>
              <a:t>AarogyamCareAI combines a React interface, Node/Express services, MySQL persistence, FastAPI prediction models and server-side Gemini integration in one healthcare-information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66918-CA50-40B8-87E7-4D6B4FE1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42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988F8-8875-42CF-96C5-FC5AD49A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Centralized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34401-7B12-4C49-8C2F-85E74600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Health profile, chat, reports, predictions and appointments in one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0D675-BDD3-45F7-BCAC-66C111C4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42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4E361-0906-4D39-B0BD-2AD0372F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AI-assisted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DC776-6371-4AE7-A6E6-FE5D288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Gemini supports educational chat and report summaries.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8388B-5D00-415A-9A42-3DB18E5B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42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2FE38-51F3-4FA9-B602-3CCE2105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Educational ML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8F3E5-0061-4323-A82C-6A82993C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Disease and cardiovascular risk features include explicit safety limits.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83605-4925-492B-8704-D1DFE36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E6401-8A57-4755-8920-973DA9E8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6A9D7-5BD9-4834-9F94-9FB1E704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24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Questions?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48E2D-82D0-4FAD-B3FC-20BD84FA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93C5FD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</p:spTree>
    <p:extLst>
      <p:ext uri="{BB962C8B-B14F-4D97-AF65-F5344CB8AC3E}">
        <p14:creationId xmlns:p14="http://schemas.microsoft.com/office/powerpoint/2010/main" val="963401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2026-10-21T18:09:24.1990000Z</dcterms:created>
  <dcterms:modified xsi:type="dcterms:W3CDTF">2026-10-21T18:09:24.1990000Z</dcterms:modified>
</coreProperties>
</file>